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Lato"/>
      <p:regular r:id="rId35"/>
      <p:bold r:id="rId36"/>
      <p:italic r:id="rId37"/>
      <p:boldItalic r:id="rId38"/>
    </p:embeddedFont>
    <p:embeddedFont>
      <p:font typeface="Lato Black"/>
      <p:bold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1" roundtripDataSignature="AMtx7mgbxYeXXO7gtlfVN5Al/+DFn3VL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C90DAB-1BDB-4B07-947D-E12E92E36252}">
  <a:tblStyle styleId="{B1C90DAB-1BDB-4B07-947D-E12E92E3625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Black-boldItalic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Lato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Lato-italic.fntdata"/><Relationship Id="rId14" Type="http://schemas.openxmlformats.org/officeDocument/2006/relationships/slide" Target="slides/slide8.xml"/><Relationship Id="rId36" Type="http://schemas.openxmlformats.org/officeDocument/2006/relationships/font" Target="fonts/Lato-bold.fntdata"/><Relationship Id="rId17" Type="http://schemas.openxmlformats.org/officeDocument/2006/relationships/slide" Target="slides/slide11.xml"/><Relationship Id="rId39" Type="http://schemas.openxmlformats.org/officeDocument/2006/relationships/font" Target="fonts/LatoBlack-bold.fntdata"/><Relationship Id="rId16" Type="http://schemas.openxmlformats.org/officeDocument/2006/relationships/slide" Target="slides/slide10.xml"/><Relationship Id="rId38" Type="http://schemas.openxmlformats.org/officeDocument/2006/relationships/font" Target="fonts/Lato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e71b2d97_1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28e71b2d97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cee01ef54_0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4cee01ef5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9b4f7b93f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49b4f7b93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28e71b2d97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28e71b2d9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cee01ef54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4cee01ef5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9b4f7b93f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49b4f7b93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cee01ef54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4cee01ef5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9b4f7b93f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49b4f7b93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cee01ef54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4cee01ef5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b9f0ef482_2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4b9f0ef482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bb7b55d39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4bb7b55d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b9f0ef482_2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4b9f0ef482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cee01ef54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4cee01ef5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b9f0ef482_2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4b9f0ef482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cee01ef54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4cee01ef5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b9f0ef482_2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4b9f0ef482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cee01ef54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4cee01ef5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b9f0ef482_2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4b9f0ef482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cee01ef54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4cee01ef5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b9f0ef482_2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4b9f0ef482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cee01ef54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4cee01ef5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53b43a33d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53b43a33d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3b43a33d9_1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53b43a33d9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9f379764d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59f379764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3b43a33d9_1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53b43a33d9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3b43a33d9_1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53b43a33d9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2960ed2390_0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2960ed239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sssouza/code-smell-examples/blob/main/long_method.java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sssouza/code-smell-examples/blob/main/long_parameter_list.java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sssouza/code-smell-examples/blob/main/large_class.java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sssouza/code-smell-examples/blob/main/refused_bequest.java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sssouza/code-smell-examples/blob/main/feature_envy.java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sssouza/code-smell-examples/blob/main/shotgun_surgery.java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sssouza/code-smell-examples/blob/main/intensive_coupling.java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ithub.com/sssouza/code-smell-examples/blob/main/dispersed_coupling.java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github.com/sssouza/code-smell-examples/blob/main/data_class.java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>
            <p:ph type="ctrTitle"/>
          </p:nvPr>
        </p:nvSpPr>
        <p:spPr>
          <a:xfrm>
            <a:off x="147100" y="129300"/>
            <a:ext cx="8847900" cy="4884900"/>
          </a:xfrm>
          <a:prstGeom prst="rect">
            <a:avLst/>
          </a:prstGeom>
          <a:noFill/>
          <a:ln cap="flat" cmpd="sng" w="9525">
            <a:solidFill>
              <a:srgbClr val="BC0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sz="3500">
              <a:solidFill>
                <a:srgbClr val="EFEFE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52" name="Google Shape;52;p1"/>
          <p:cNvSpPr txBox="1"/>
          <p:nvPr>
            <p:ph type="ctrTitle"/>
          </p:nvPr>
        </p:nvSpPr>
        <p:spPr>
          <a:xfrm>
            <a:off x="311708" y="592174"/>
            <a:ext cx="8520600" cy="23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0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Code Smells</a:t>
            </a:r>
            <a:endParaRPr sz="30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53" name="Google Shape;53;p1"/>
          <p:cNvSpPr txBox="1"/>
          <p:nvPr>
            <p:ph idx="1" type="subTitle"/>
          </p:nvPr>
        </p:nvSpPr>
        <p:spPr>
          <a:xfrm>
            <a:off x="1728600" y="3011675"/>
            <a:ext cx="54606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Saymon Souza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MSc Student in Computer Science  |  silvasouzasaymon@gmail.com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550" y="372350"/>
            <a:ext cx="995925" cy="38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42775" y="374038"/>
            <a:ext cx="995925" cy="384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28e71b2d97_1_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Definition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61" name="Google Shape;61;g328e71b2d97_1_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2000"/>
              <a:buFont typeface="Lato"/>
              <a:buChar char="●"/>
            </a:pP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code smell is any symptom in a program’s source code that </a:t>
            </a:r>
            <a:r>
              <a:rPr b="1" i="1"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may indicate a potential problem.</a:t>
            </a:r>
            <a:r>
              <a:rPr b="1" i="1"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	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											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Determining what is or is not a code smell is subjective;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 varies depending on the programming language, the developers, and the development methodologies.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" name="Google Shape;62;g328e71b2d97_1_19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cee01ef54_0_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Why you should care about code smells?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68" name="Google Shape;68;g34cee01ef54_0_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2000"/>
              <a:buFont typeface="Lato"/>
              <a:buChar char="●"/>
            </a:pP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Detecting and fixing code smells is crucial for maintaining a healthy, scalable, and maintainable codebase.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										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Reduces Complexity;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Eases Future Changes;	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Fewer Bugs.	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" name="Google Shape;69;g34cee01ef54_0_65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49b4f7b93f_0_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Some c</a:t>
            </a: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ode smells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75" name="Google Shape;75;g349b4f7b93f_0_3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graphicFrame>
        <p:nvGraphicFramePr>
          <p:cNvPr id="76" name="Google Shape;76;g349b4f7b93f_0_3"/>
          <p:cNvGraphicFramePr/>
          <p:nvPr/>
        </p:nvGraphicFramePr>
        <p:xfrm>
          <a:off x="952500" y="116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{B1C90DAB-1BDB-4B07-947D-E12E92E36252}</a:tableStyleId>
              </a:tblPr>
              <a:tblGrid>
                <a:gridCol w="1850875"/>
                <a:gridCol w="1850875"/>
                <a:gridCol w="1586250"/>
                <a:gridCol w="2115450"/>
              </a:tblGrid>
              <a:tr h="473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BC072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Refused Bequest</a:t>
                      </a:r>
                      <a:endParaRPr b="1" sz="1400" u="none" cap="none" strike="noStrike">
                        <a:solidFill>
                          <a:srgbClr val="BC072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BC072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Large Class</a:t>
                      </a:r>
                      <a:endParaRPr b="1" sz="1400" u="none" cap="none" strike="noStrike">
                        <a:solidFill>
                          <a:srgbClr val="BC072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BC072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Long Method</a:t>
                      </a:r>
                      <a:endParaRPr b="1" sz="1400" u="none" cap="none" strike="noStrike">
                        <a:solidFill>
                          <a:srgbClr val="BC072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Comments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473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Divergent Change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BC072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Shotgun Surgery</a:t>
                      </a:r>
                      <a:endParaRPr b="1" sz="1400" u="none" cap="none" strike="noStrike">
                        <a:solidFill>
                          <a:srgbClr val="BC072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BC072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 Envy</a:t>
                      </a:r>
                      <a:endParaRPr b="1" sz="1400" u="none" cap="none" strike="noStrike">
                        <a:solidFill>
                          <a:srgbClr val="BC072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BC072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Long Parameter List</a:t>
                      </a:r>
                      <a:endParaRPr b="1" sz="1400" u="none" cap="none" strike="noStrike">
                        <a:solidFill>
                          <a:srgbClr val="BC072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473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Primitive Obsession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Switch Statements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Lazy Class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Speculative Generality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473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Temporary Field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Message Chains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Middle Man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BC072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Intensive Coupling</a:t>
                      </a:r>
                      <a:endParaRPr b="1" sz="1400" u="none" cap="none" strike="noStrike">
                        <a:solidFill>
                          <a:srgbClr val="BC072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72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BC072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Dispersed Coupling</a:t>
                      </a:r>
                      <a:endParaRPr b="1" sz="1400" u="none" cap="none" strike="noStrike">
                        <a:solidFill>
                          <a:srgbClr val="BC072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Data Clumps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BC072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Class</a:t>
                      </a:r>
                      <a:endParaRPr b="1" sz="1400" u="none" cap="none" strike="noStrike">
                        <a:solidFill>
                          <a:srgbClr val="BC072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Incomplete Library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Class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7279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Parallel Inheritance Hierarchies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Alternative Classes with Different Interfaces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8e71b2d97_0_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Long Method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82" name="Google Shape;82;g328e71b2d97_0_10"/>
          <p:cNvSpPr txBox="1"/>
          <p:nvPr>
            <p:ph idx="1" type="body"/>
          </p:nvPr>
        </p:nvSpPr>
        <p:spPr>
          <a:xfrm>
            <a:off x="311700" y="1152475"/>
            <a:ext cx="85206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800"/>
              <a:buFont typeface="Lato"/>
              <a:buChar char="●"/>
            </a:pP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Long Method is a code smell </a:t>
            </a:r>
            <a:r>
              <a:rPr b="1" i="1"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where a method is excessively long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1"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does too many things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making it hard to understand, test, and maintain. Key characteristics:															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Scrollbar required to read the entire method.								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Multiple levels of nesting (deep if/for/try blocks).								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Comments explaining sections (a hint that chunks could be separate methods).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" name="Google Shape;83;g328e71b2d97_0_10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cee01ef54_0_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Long Method - Example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89" name="Google Shape;89;g34cee01ef54_0_13"/>
          <p:cNvSpPr txBox="1"/>
          <p:nvPr>
            <p:ph idx="1" type="body"/>
          </p:nvPr>
        </p:nvSpPr>
        <p:spPr>
          <a:xfrm>
            <a:off x="311700" y="1152475"/>
            <a:ext cx="85206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800"/>
              <a:buFont typeface="Lato"/>
              <a:buChar char="●"/>
            </a:pPr>
            <a:r>
              <a:rPr lang="pt-BR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https://github.com/sssouza/code-smell-examples/blob/main/long_method.java</a:t>
            </a: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g34cee01ef54_0_13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9b4f7b93f_0_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Long Parameter List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96" name="Google Shape;96;g349b4f7b93f_0_46"/>
          <p:cNvSpPr txBox="1"/>
          <p:nvPr>
            <p:ph idx="1" type="body"/>
          </p:nvPr>
        </p:nvSpPr>
        <p:spPr>
          <a:xfrm>
            <a:off x="311700" y="1152475"/>
            <a:ext cx="85206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800"/>
              <a:buFont typeface="Lato"/>
              <a:buChar char="●"/>
            </a:pP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Long Parameter List is a code smell where a </a:t>
            </a:r>
            <a:r>
              <a:rPr b="1" i="1" lang="pt-BR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method or constructor has too many parameters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making it hard to understand, test, and maintain.																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Related parameters should be grouped into an object;							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Frequently adding new parameters to existing methods;						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Parameters are often passed together in multiple methods.	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g349b4f7b93f_0_46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cee01ef54_0_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Long Parameter List - Example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03" name="Google Shape;103;g34cee01ef54_0_19"/>
          <p:cNvSpPr txBox="1"/>
          <p:nvPr>
            <p:ph idx="1" type="body"/>
          </p:nvPr>
        </p:nvSpPr>
        <p:spPr>
          <a:xfrm>
            <a:off x="311700" y="1152475"/>
            <a:ext cx="85206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800"/>
              <a:buFont typeface="Lato"/>
              <a:buChar char="●"/>
            </a:pPr>
            <a:r>
              <a:rPr lang="pt-BR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https://github.com/sssouza/code-smell-examples/blob/main/long_parameter_list.java</a:t>
            </a: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g34cee01ef54_0_19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9b4f7b93f_0_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Large Class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10" name="Google Shape;110;g349b4f7b93f_0_38"/>
          <p:cNvSpPr txBox="1"/>
          <p:nvPr>
            <p:ph idx="1" type="body"/>
          </p:nvPr>
        </p:nvSpPr>
        <p:spPr>
          <a:xfrm>
            <a:off x="311700" y="1152475"/>
            <a:ext cx="85206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800"/>
              <a:buFont typeface="Lato"/>
              <a:buChar char="●"/>
            </a:pP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Large Class is a code smell where </a:t>
            </a:r>
            <a:r>
              <a:rPr b="1" i="1"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a class has too many responsibilities, methods, or fields</a:t>
            </a:r>
            <a:r>
              <a:rPr b="1" i="1"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making it difficult to understand, test, and maintain.		</a:t>
            </a: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								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Multiple unrelated concerns (e.g., a User class handling authentication, profile management, and billing).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g349b4f7b93f_0_38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cee01ef54_0_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Large Class - Example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17" name="Google Shape;117;g34cee01ef54_0_25"/>
          <p:cNvSpPr txBox="1"/>
          <p:nvPr>
            <p:ph idx="1" type="body"/>
          </p:nvPr>
        </p:nvSpPr>
        <p:spPr>
          <a:xfrm>
            <a:off x="311700" y="1152475"/>
            <a:ext cx="85206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800"/>
              <a:buFont typeface="Lato"/>
              <a:buChar char="●"/>
            </a:pPr>
            <a:r>
              <a:rPr lang="pt-BR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https://github.com/sssouza/code-smell-examples/blob/main/large_class.java</a:t>
            </a: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g34cee01ef54_0_25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b9f0ef482_2_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Refused Bequest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4" name="Google Shape;124;g34b9f0ef482_2_25"/>
          <p:cNvSpPr txBox="1"/>
          <p:nvPr>
            <p:ph idx="1" type="body"/>
          </p:nvPr>
        </p:nvSpPr>
        <p:spPr>
          <a:xfrm>
            <a:off x="311700" y="1152475"/>
            <a:ext cx="85206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2000"/>
              <a:buFont typeface="Lato"/>
              <a:buChar char="●"/>
            </a:pP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Refused Bequest is a code smell where a </a:t>
            </a:r>
            <a:r>
              <a:rPr b="1" i="1"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subclass inherits from a parent class but does not use (or actively rejects)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some of the inherited methods or properties.  Key characteristics:													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Subclass overrides a parent method to do nothing (or throw an exception).		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Subclass ignores inherited fields/methods.									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Subclass renames or repurposes inherited methods (breaking polymorphism).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" name="Google Shape;125;g34b9f0ef482_2_25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bb7b55d39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Refused Bequest - Example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31" name="Google Shape;131;g34bb7b55d39_0_6"/>
          <p:cNvSpPr txBox="1"/>
          <p:nvPr>
            <p:ph idx="1" type="body"/>
          </p:nvPr>
        </p:nvSpPr>
        <p:spPr>
          <a:xfrm>
            <a:off x="311700" y="1152475"/>
            <a:ext cx="85206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800"/>
              <a:buFont typeface="Lato"/>
              <a:buChar char="●"/>
            </a:pPr>
            <a:r>
              <a:rPr lang="pt-BR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https://github.com/sssouza/code-smell-examples/blob/main/refused_bequest.java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g34bb7b55d39_0_6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b9f0ef482_2_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Feature Envy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38" name="Google Shape;138;g34b9f0ef482_2_7"/>
          <p:cNvSpPr txBox="1"/>
          <p:nvPr>
            <p:ph idx="1" type="body"/>
          </p:nvPr>
        </p:nvSpPr>
        <p:spPr>
          <a:xfrm>
            <a:off x="311700" y="1152475"/>
            <a:ext cx="85206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800"/>
              <a:buFont typeface="Lato"/>
              <a:buChar char="●"/>
            </a:pP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Feature Envy is a code smell where a </a:t>
            </a:r>
            <a:r>
              <a:rPr b="1" i="1" lang="pt-BR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method in one class excessively uses methods or data from another class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suggesting it might belong elsewhere. Key characteristics:															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method makes more calls to another class than its own.						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Violates encapsulation by pulling data out of another object to process it.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" name="Google Shape;139;g34b9f0ef482_2_7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cee01ef54_0_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Feature Envy - Example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5" name="Google Shape;145;g34cee01ef54_0_7"/>
          <p:cNvSpPr txBox="1"/>
          <p:nvPr>
            <p:ph idx="1" type="body"/>
          </p:nvPr>
        </p:nvSpPr>
        <p:spPr>
          <a:xfrm>
            <a:off x="311700" y="1152475"/>
            <a:ext cx="85206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800"/>
              <a:buFont typeface="Lato"/>
              <a:buChar char="●"/>
            </a:pPr>
            <a:r>
              <a:rPr lang="pt-BR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https://github.com/sssouza/code-smell-examples/blob/main/feature_envy.java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g34cee01ef54_0_7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b9f0ef482_2_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Shotgun Surgery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52" name="Google Shape;152;g34b9f0ef482_2_13"/>
          <p:cNvSpPr txBox="1"/>
          <p:nvPr>
            <p:ph idx="1" type="body"/>
          </p:nvPr>
        </p:nvSpPr>
        <p:spPr>
          <a:xfrm>
            <a:off x="311700" y="1152475"/>
            <a:ext cx="85206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60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ct val="100000"/>
              <a:buFont typeface="Lato"/>
              <a:buChar char="●"/>
            </a:pP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Shotgun Surgery is a code smell where a </a:t>
            </a:r>
            <a:r>
              <a:rPr b="1" i="1"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single change requires many small modifications across multiple classes/files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indicating that responsibilities are poorly organized. Key problems:											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7822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ct val="129411"/>
              <a:buFont typeface="Lato"/>
              <a:buChar char="○"/>
            </a:pPr>
            <a:r>
              <a:rPr lang="pt-BR" sz="17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Fragile Code:</a:t>
            </a: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 simple change (e.g., adding a new field) forces edits in many places.																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7822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ct val="129411"/>
              <a:buFont typeface="Lato"/>
              <a:buChar char="○"/>
            </a:pPr>
            <a:r>
              <a:rPr lang="pt-BR" sz="17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High Maintenance:</a:t>
            </a: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Hard to track all affected files.								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7822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ct val="129411"/>
              <a:buFont typeface="Lato"/>
              <a:buChar char="○"/>
            </a:pPr>
            <a:r>
              <a:rPr lang="pt-BR" sz="17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Bug-Prone:</a:t>
            </a: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Easy to miss a required change.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g34b9f0ef482_2_13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cee01ef54_0_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Shotgun Surgery - Example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59" name="Google Shape;159;g34cee01ef54_0_51"/>
          <p:cNvSpPr txBox="1"/>
          <p:nvPr>
            <p:ph idx="1" type="body"/>
          </p:nvPr>
        </p:nvSpPr>
        <p:spPr>
          <a:xfrm>
            <a:off x="311700" y="1152475"/>
            <a:ext cx="85206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2000"/>
              <a:buFont typeface="Lato"/>
              <a:buChar char="●"/>
            </a:pPr>
            <a:r>
              <a:rPr lang="pt-BR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https://github.com/sssouza/code-smell-examples/blob/main/shotgun_surgery.java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g34cee01ef54_0_51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b9f0ef482_2_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Intensive Coupling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6" name="Google Shape;166;g34b9f0ef482_2_19"/>
          <p:cNvSpPr txBox="1"/>
          <p:nvPr>
            <p:ph idx="1" type="body"/>
          </p:nvPr>
        </p:nvSpPr>
        <p:spPr>
          <a:xfrm>
            <a:off x="311700" y="1152475"/>
            <a:ext cx="85206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2000"/>
              <a:buFont typeface="Lato"/>
              <a:buChar char="●"/>
            </a:pP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Intensive Coupling is a code smell where a class or module is </a:t>
            </a:r>
            <a:r>
              <a:rPr b="1" i="1"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overly dependent on the internal details of another class/module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making the system rigid and hard to modify.											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600"/>
              <a:buFont typeface="Lato"/>
              <a:buChar char="○"/>
            </a:pPr>
            <a:r>
              <a:rPr lang="pt-BR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Unlike dispersed coupling (which spreads dependencies across many classes), intensive coupling focuses on deep, inflexible relationships between specific components.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g34b9f0ef482_2_19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cee01ef54_0_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Intensive Coupling - Example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73" name="Google Shape;173;g34cee01ef54_0_42"/>
          <p:cNvSpPr txBox="1"/>
          <p:nvPr>
            <p:ph idx="1" type="body"/>
          </p:nvPr>
        </p:nvSpPr>
        <p:spPr>
          <a:xfrm>
            <a:off x="311700" y="1152475"/>
            <a:ext cx="85206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2000"/>
              <a:buFont typeface="Lato"/>
              <a:buChar char="●"/>
            </a:pPr>
            <a:r>
              <a:rPr lang="pt-BR" sz="16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https://github.com/sssouza/code-smell-examples/blob/main/intensive_coupling.java</a:t>
            </a:r>
            <a:r>
              <a:rPr lang="pt-BR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g34cee01ef54_0_42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b9f0ef482_2_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Dispersed</a:t>
            </a: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 Coupling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80" name="Google Shape;180;g34b9f0ef482_2_31"/>
          <p:cNvSpPr txBox="1"/>
          <p:nvPr>
            <p:ph idx="1" type="body"/>
          </p:nvPr>
        </p:nvSpPr>
        <p:spPr>
          <a:xfrm>
            <a:off x="311700" y="1152475"/>
            <a:ext cx="85206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800"/>
              <a:buFont typeface="Lato"/>
              <a:buChar char="●"/>
            </a:pP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Dispersed Coupling is a code smell that occurs when a module or class </a:t>
            </a:r>
            <a:r>
              <a:rPr b="1" i="1"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depends on multiple other modules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1"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or classes in a scattered or decentralized way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leading to a lack of cohesion and maintainability issues.	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																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Multiple Dependencies:</a:t>
            </a: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 single module relies on many different modules (directly or indirectly), making it difficult to understand or modify.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g34b9f0ef482_2_31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cee01ef54_0_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Dispersed Coupling - Example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87" name="Google Shape;187;g34cee01ef54_0_34"/>
          <p:cNvSpPr txBox="1"/>
          <p:nvPr>
            <p:ph idx="1" type="body"/>
          </p:nvPr>
        </p:nvSpPr>
        <p:spPr>
          <a:xfrm>
            <a:off x="311700" y="1152475"/>
            <a:ext cx="85206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800"/>
              <a:buFont typeface="Lato"/>
              <a:buChar char="●"/>
            </a:pPr>
            <a:r>
              <a:rPr lang="pt-BR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https://github.com/sssouza/code-smell-examples/blob/main/dispersed_coupling.java</a:t>
            </a: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g34cee01ef54_0_34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b9f0ef482_2_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Data Class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94" name="Google Shape;194;g34b9f0ef482_2_37"/>
          <p:cNvSpPr txBox="1"/>
          <p:nvPr>
            <p:ph idx="1" type="body"/>
          </p:nvPr>
        </p:nvSpPr>
        <p:spPr>
          <a:xfrm>
            <a:off x="311700" y="1152475"/>
            <a:ext cx="85206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2000"/>
              <a:buFont typeface="Lato"/>
              <a:buChar char="●"/>
            </a:pP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 Class is a code smell </a:t>
            </a:r>
            <a:r>
              <a:rPr b="1" i="1"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where a class only holds data (fields + getters/setters) without meaningful behavior, 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essentially acting as a "dumb container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". Key problems:											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Anemic Domain Model:</a:t>
            </a: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Business logic gets scattered outside the class (often in "manager" or "service" classes).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1700"/>
              <a:buFont typeface="Lato"/>
              <a:buChar char="○"/>
            </a:pPr>
            <a:r>
              <a:rPr lang="pt-BR" sz="17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Poor Encapsulation:</a:t>
            </a: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External code manipulates the class's data directly.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g34b9f0ef482_2_37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cee01ef54_0_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Data Class - Example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01" name="Google Shape;201;g34cee01ef54_0_57"/>
          <p:cNvSpPr txBox="1"/>
          <p:nvPr>
            <p:ph idx="1" type="body"/>
          </p:nvPr>
        </p:nvSpPr>
        <p:spPr>
          <a:xfrm>
            <a:off x="311700" y="1152475"/>
            <a:ext cx="85206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2000"/>
              <a:buFont typeface="Lato"/>
              <a:buChar char="●"/>
            </a:pPr>
            <a:r>
              <a:rPr lang="pt-BR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https://github.com/sssouza/code-smell-examples/blob/main/data_class.java</a:t>
            </a: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g34cee01ef54_0_57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53b43a33d9_0_6"/>
          <p:cNvSpPr txBox="1"/>
          <p:nvPr>
            <p:ph type="ctrTitle"/>
          </p:nvPr>
        </p:nvSpPr>
        <p:spPr>
          <a:xfrm>
            <a:off x="147100" y="129300"/>
            <a:ext cx="8847900" cy="4884900"/>
          </a:xfrm>
          <a:prstGeom prst="rect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 sz="30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Experiment</a:t>
            </a:r>
            <a:endParaRPr sz="30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3b43a33d9_1_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How will the experiment work?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13" name="Google Shape;213;g353b43a33d9_1_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5125" lvl="0" marL="457200" rtl="0" algn="l"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2150"/>
              <a:buFont typeface="Lato"/>
              <a:buChar char="●"/>
            </a:pP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Each student </a:t>
            </a:r>
            <a:r>
              <a:rPr b="1"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MUST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answer two forms:									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</a:pPr>
            <a:r>
              <a:rPr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Consent: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Standard consent form where participants are giving informed consent to participate in the experiment. Here's the link!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</a:pPr>
            <a:r>
              <a:rPr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Background: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This form collects information about your professional experience and knowledge of Java and code smells. Here's the link!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g353b43a33d9_1_10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59f379764d_1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How will the experiment work?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20" name="Google Shape;220;g359f379764d_1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6075" lvl="0" marL="457200" rtl="0" algn="l"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ct val="100000"/>
              <a:buFont typeface="Lato"/>
              <a:buChar char="●"/>
            </a:pP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Each student has a tab in the allocation table. Look for your 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@aluno.ufop.edu.br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e-mail handle there.														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8453" lvl="1" marL="9144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ct val="100000"/>
              <a:buFont typeface="Lato"/>
              <a:buChar char="○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 your tab you will find 10 codes and their respective forms.						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8453" lvl="2" marL="13716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ct val="100000"/>
              <a:buFont typeface="Lato"/>
              <a:buChar char="■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Also, you will see a DONE checkbox to mark your progress.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8453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ct val="100000"/>
              <a:buFont typeface="Lato"/>
              <a:buChar char="■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Codes were assigned randomly, so you might evaluate more codes of one type instead of one of each type of smell.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ct val="105882"/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4885" lvl="0" marL="457200" rtl="0" algn="l"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ct val="100000"/>
              <a:buFont typeface="Lato"/>
              <a:buChar char="●"/>
            </a:pPr>
            <a:r>
              <a:rPr b="1" lang="pt-BR" sz="215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Be careful while answering to make sure you are answering the right form for each code!</a:t>
            </a:r>
            <a:endParaRPr b="1" sz="2150">
              <a:solidFill>
                <a:srgbClr val="BC072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1" name="Google Shape;221;g359f379764d_1_0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3b43a33d9_1_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Finishing the experiment and grading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27" name="Google Shape;227;g353b43a33d9_1_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2000"/>
              <a:buFont typeface="Lato"/>
              <a:buChar char="●"/>
            </a:pP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experiment ends when all 10 codes are evaluated in their respective forms and the two previous forms (consent and background) are answered.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2000"/>
              <a:buFont typeface="Lato"/>
              <a:buChar char="●"/>
            </a:pP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Grades will be split in </a:t>
            </a:r>
            <a:r>
              <a:rPr b="1"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two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parts: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2000"/>
              <a:buFont typeface="Lato"/>
              <a:buChar char="○"/>
            </a:pPr>
            <a:r>
              <a:rPr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Completion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Did you made all 10 evaluations and answered both background forms?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2000"/>
              <a:buFont typeface="Lato"/>
              <a:buChar char="○"/>
            </a:pPr>
            <a:r>
              <a:rPr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Quality of answers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Did you try to give good evaluations?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8" name="Google Shape;228;g353b43a33d9_1_17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3b43a33d9_1_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82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Tips!</a:t>
            </a:r>
            <a:endParaRPr sz="282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34" name="Google Shape;234;g353b43a33d9_1_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2000"/>
              <a:buFont typeface="Lato"/>
              <a:buChar char="●"/>
            </a:pP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Take a look at the code smells definitions and </a:t>
            </a:r>
            <a:r>
              <a:rPr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examples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 this presentation </a:t>
            </a:r>
            <a:r>
              <a:rPr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whenever you need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!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2000"/>
              <a:buFont typeface="Lato"/>
              <a:buChar char="○"/>
            </a:pP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Detecting code smells is hard </a:t>
            </a:r>
            <a:r>
              <a:rPr b="1" i="1"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even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for LLMs and Tools.					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2000"/>
              <a:buFont typeface="Lato"/>
              <a:buChar char="●"/>
            </a:pP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There is no right or wrong answer, but </a:t>
            </a:r>
            <a:r>
              <a:rPr b="1"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there is good and bad justifications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!															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BC072B"/>
              </a:buClr>
              <a:buSzPts val="2000"/>
              <a:buFont typeface="Lato"/>
              <a:buChar char="●"/>
            </a:pPr>
            <a:r>
              <a:rPr b="1" lang="pt-BR" sz="2000">
                <a:solidFill>
                  <a:srgbClr val="BC072B"/>
                </a:solidFill>
                <a:latin typeface="Lato"/>
                <a:ea typeface="Lato"/>
                <a:cs typeface="Lato"/>
                <a:sym typeface="Lato"/>
              </a:rPr>
              <a:t>If you have any questions, ask me immediately!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" name="Google Shape;235;g353b43a33d9_1_23"/>
          <p:cNvSpPr txBox="1"/>
          <p:nvPr>
            <p:ph idx="12" type="sldNum"/>
          </p:nvPr>
        </p:nvSpPr>
        <p:spPr>
          <a:xfrm>
            <a:off x="429765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2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2960ed2390_0_87"/>
          <p:cNvSpPr txBox="1"/>
          <p:nvPr>
            <p:ph type="ctrTitle"/>
          </p:nvPr>
        </p:nvSpPr>
        <p:spPr>
          <a:xfrm>
            <a:off x="147100" y="129300"/>
            <a:ext cx="8847900" cy="4884900"/>
          </a:xfrm>
          <a:prstGeom prst="rect">
            <a:avLst/>
          </a:prstGeom>
          <a:noFill/>
          <a:ln cap="flat" cmpd="sng" w="9525">
            <a:solidFill>
              <a:srgbClr val="BC0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sz="3500">
              <a:solidFill>
                <a:srgbClr val="EFEFE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41" name="Google Shape;241;g32960ed2390_0_87"/>
          <p:cNvSpPr txBox="1"/>
          <p:nvPr>
            <p:ph type="ctrTitle"/>
          </p:nvPr>
        </p:nvSpPr>
        <p:spPr>
          <a:xfrm>
            <a:off x="311708" y="592174"/>
            <a:ext cx="8520600" cy="23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000">
                <a:solidFill>
                  <a:srgbClr val="BC072B"/>
                </a:solidFill>
                <a:latin typeface="Lato Black"/>
                <a:ea typeface="Lato Black"/>
                <a:cs typeface="Lato Black"/>
                <a:sym typeface="Lato Black"/>
              </a:rPr>
              <a:t>Code Smells</a:t>
            </a:r>
            <a:endParaRPr sz="3000">
              <a:solidFill>
                <a:srgbClr val="BC072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42" name="Google Shape;242;g32960ed2390_0_87"/>
          <p:cNvSpPr txBox="1"/>
          <p:nvPr>
            <p:ph idx="1" type="subTitle"/>
          </p:nvPr>
        </p:nvSpPr>
        <p:spPr>
          <a:xfrm>
            <a:off x="1728600" y="3011675"/>
            <a:ext cx="54606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Saymon Souza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MSc Student in Computer Science  |  silvasouzasaymon@gmail.com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43" name="Google Shape;243;g32960ed2390_0_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550" y="372350"/>
            <a:ext cx="995925" cy="38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2960ed2390_0_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42775" y="374038"/>
            <a:ext cx="995925" cy="384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